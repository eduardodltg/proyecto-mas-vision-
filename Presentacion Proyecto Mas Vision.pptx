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1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>
        <p:scale>
          <a:sx n="75" d="100"/>
          <a:sy n="75" d="100"/>
        </p:scale>
        <p:origin x="540" y="-2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60729A-94ED-4B97-A8E7-F0B4F0AC6C8C}" type="datetimeFigureOut">
              <a:rPr lang="es-MX" smtClean="0"/>
              <a:t>08/12/2025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425DBD-3BCA-44FE-8E0A-DD31DFDC010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013090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DB5B15E3-2A00-4388-9094-5261F5DB5338}" type="datetimeFigureOut">
              <a:rPr lang="es-MX" smtClean="0"/>
              <a:t>04/12/2025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898FE207-186B-4B19-ABC3-16F5C90DF28F}" type="slidenum">
              <a:rPr lang="es-MX" smtClean="0"/>
              <a:t>‹Nº›</a:t>
            </a:fld>
            <a:endParaRPr lang="es-MX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1245128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B15E3-2A00-4388-9094-5261F5DB5338}" type="datetimeFigureOut">
              <a:rPr lang="es-MX" smtClean="0"/>
              <a:t>04/12/2025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FE207-186B-4B19-ABC3-16F5C90DF28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340217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B5B15E3-2A00-4388-9094-5261F5DB5338}" type="datetimeFigureOut">
              <a:rPr lang="es-MX" smtClean="0"/>
              <a:t>04/12/2025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98FE207-186B-4B19-ABC3-16F5C90DF28F}" type="slidenum">
              <a:rPr lang="es-MX" smtClean="0"/>
              <a:t>‹Nº›</a:t>
            </a:fld>
            <a:endParaRPr lang="es-MX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228035514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B15E3-2A00-4388-9094-5261F5DB5338}" type="datetimeFigureOut">
              <a:rPr lang="es-MX" smtClean="0"/>
              <a:t>04/12/2025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FE207-186B-4B19-ABC3-16F5C90DF28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653833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B15E3-2A00-4388-9094-5261F5DB5338}" type="datetimeFigureOut">
              <a:rPr lang="es-MX" smtClean="0"/>
              <a:t>04/12/2025</a:t>
            </a:fld>
            <a:endParaRPr lang="es-MX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FE207-186B-4B19-ABC3-16F5C90DF28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02262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B15E3-2A00-4388-9094-5261F5DB5338}" type="datetimeFigureOut">
              <a:rPr lang="es-MX" smtClean="0"/>
              <a:t>04/12/2025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FE207-186B-4B19-ABC3-16F5C90DF28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181284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B15E3-2A00-4388-9094-5261F5DB5338}" type="datetimeFigureOut">
              <a:rPr lang="es-MX" smtClean="0"/>
              <a:t>04/12/2025</a:t>
            </a:fld>
            <a:endParaRPr lang="es-MX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FE207-186B-4B19-ABC3-16F5C90DF28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376043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B5B15E3-2A00-4388-9094-5261F5DB5338}" type="datetimeFigureOut">
              <a:rPr lang="es-MX" smtClean="0"/>
              <a:t>04/12/2025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98FE207-186B-4B19-ABC3-16F5C90DF28F}" type="slidenum">
              <a:rPr lang="es-MX" smtClean="0"/>
              <a:t>‹Nº›</a:t>
            </a:fld>
            <a:endParaRPr lang="es-MX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9056129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B5B15E3-2A00-4388-9094-5261F5DB5338}" type="datetimeFigureOut">
              <a:rPr lang="es-MX" smtClean="0"/>
              <a:t>04/12/2025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98FE207-186B-4B19-ABC3-16F5C90DF28F}" type="slidenum">
              <a:rPr lang="es-MX" smtClean="0"/>
              <a:t>‹Nº›</a:t>
            </a:fld>
            <a:endParaRPr lang="es-MX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5452045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B15E3-2A00-4388-9094-5261F5DB5338}" type="datetimeFigureOut">
              <a:rPr lang="es-MX" smtClean="0"/>
              <a:t>04/12/2025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FE207-186B-4B19-ABC3-16F5C90DF28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978140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B15E3-2A00-4388-9094-5261F5DB5338}" type="datetimeFigureOut">
              <a:rPr lang="es-MX" smtClean="0"/>
              <a:t>04/12/2025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FE207-186B-4B19-ABC3-16F5C90DF28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689368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DB5B15E3-2A00-4388-9094-5261F5DB5338}" type="datetimeFigureOut">
              <a:rPr lang="es-MX" smtClean="0"/>
              <a:t>04/12/2025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898FE207-186B-4B19-ABC3-16F5C90DF28F}" type="slidenum">
              <a:rPr lang="es-MX" smtClean="0"/>
              <a:t>‹Nº›</a:t>
            </a:fld>
            <a:endParaRPr lang="es-MX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6707753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67A4B3-5CC7-2E30-20EF-7937B556278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s-MX" sz="6000" dirty="0"/>
              <a:t>Análisis de ventas y pronóstico 2025 – Cadena de ópticas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D5051D7-FE64-16A0-D6B1-8401F788E55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r>
              <a:rPr lang="es-MX" sz="1600" dirty="0"/>
              <a:t>Informe ejecutivo · Periodo analizado: 2022–2024 · Proyección 2025</a:t>
            </a:r>
          </a:p>
          <a:p>
            <a:endParaRPr lang="es-MX" sz="1600" dirty="0"/>
          </a:p>
          <a:p>
            <a:endParaRPr lang="es-MX" sz="1600" dirty="0"/>
          </a:p>
          <a:p>
            <a:r>
              <a:rPr lang="es-MX" sz="1600" dirty="0"/>
              <a:t>Elaborado por: </a:t>
            </a:r>
          </a:p>
          <a:p>
            <a:r>
              <a:rPr lang="es-MX" sz="1600" dirty="0"/>
              <a:t>Eduardo de la Torre – Científico de Datos</a:t>
            </a:r>
          </a:p>
        </p:txBody>
      </p:sp>
    </p:spTree>
    <p:extLst>
      <p:ext uri="{BB962C8B-B14F-4D97-AF65-F5344CB8AC3E}">
        <p14:creationId xmlns:p14="http://schemas.microsoft.com/office/powerpoint/2010/main" val="10625742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B56113C-1A34-6DA4-2A1A-B1E19288D4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6400" y="961048"/>
            <a:ext cx="10515600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s-MX" b="1" dirty="0"/>
              <a:t>Contenido:</a:t>
            </a:r>
            <a:endParaRPr lang="es-MX" dirty="0"/>
          </a:p>
          <a:p>
            <a:r>
              <a:rPr lang="es-MX" dirty="0"/>
              <a:t>Introducción y contexto</a:t>
            </a:r>
          </a:p>
          <a:p>
            <a:r>
              <a:rPr lang="es-MX" dirty="0"/>
              <a:t>Objetivos del proyecto</a:t>
            </a:r>
          </a:p>
          <a:p>
            <a:r>
              <a:rPr lang="es-MX" dirty="0"/>
              <a:t>Alcance y fuentes de datos</a:t>
            </a:r>
          </a:p>
          <a:p>
            <a:r>
              <a:rPr lang="es-MX" dirty="0"/>
              <a:t>Principales hallazgos del EDA</a:t>
            </a:r>
          </a:p>
          <a:p>
            <a:r>
              <a:rPr lang="es-MX" dirty="0" err="1"/>
              <a:t>Dashboard</a:t>
            </a:r>
            <a:r>
              <a:rPr lang="es-MX" dirty="0"/>
              <a:t> interactivo (</a:t>
            </a:r>
            <a:r>
              <a:rPr lang="es-MX" dirty="0" err="1"/>
              <a:t>Power</a:t>
            </a:r>
            <a:r>
              <a:rPr lang="es-MX" dirty="0"/>
              <a:t> BI)</a:t>
            </a:r>
          </a:p>
          <a:p>
            <a:r>
              <a:rPr lang="es-MX" dirty="0"/>
              <a:t>Modelado predictivo</a:t>
            </a:r>
          </a:p>
          <a:p>
            <a:r>
              <a:rPr lang="es-MX" dirty="0"/>
              <a:t>Predicciones de ventas 2025</a:t>
            </a:r>
          </a:p>
          <a:p>
            <a:r>
              <a:rPr lang="es-MX" dirty="0"/>
              <a:t>Recomendaciones estratégicas</a:t>
            </a:r>
          </a:p>
          <a:p>
            <a:r>
              <a:rPr lang="es-MX" dirty="0"/>
              <a:t>Conclusiones y valor generado</a:t>
            </a:r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9953265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EB4C1E-2A70-8311-5B3B-7F5FBAE2DA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Introducción y contexto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0334928-1202-C452-4836-C781DDA8F2F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1" y="2113334"/>
            <a:ext cx="7124114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 proyecto analiza el comportamiento histórico de las ventas de una cadena de ópticas en México durante </a:t>
            </a:r>
            <a:r>
              <a:rPr kumimoji="0" lang="es-MX" altLang="es-MX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2022–2024</a:t>
            </a: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s-MX" altLang="es-MX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 busca: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Identificar patrones clave.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Evaluar impacto de descuentos y características de sucursales.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Desarrollar un modelo predictivo confiable para proyectar las ventas de </a:t>
            </a:r>
            <a:r>
              <a:rPr kumimoji="0" lang="es-MX" altLang="es-MX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2025</a:t>
            </a: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MX" altLang="es-MX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 enfoque es </a:t>
            </a:r>
            <a:r>
              <a:rPr kumimoji="0" lang="es-MX" altLang="es-MX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ejecutivo</a:t>
            </a: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análisis interpretativo y útil para la toma de decisiones.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95AB3382-BA3D-3B02-0915-3C04465061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8812" y="1381656"/>
            <a:ext cx="3175846" cy="4602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93437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433F5F-8981-0060-165B-C6F0BC02B4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Negocio y reto analítico</a:t>
            </a:r>
            <a:br>
              <a:rPr lang="es-MX" dirty="0"/>
            </a:br>
            <a:endParaRPr lang="es-MX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B6B8DD47-51F3-576C-04ED-51CE7C03C21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667500" y="1630392"/>
            <a:ext cx="5274956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 empresa cuenta con </a:t>
            </a:r>
            <a:r>
              <a:rPr kumimoji="0" lang="es-MX" altLang="es-MX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múltiples sucursales</a:t>
            </a: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distribuidas en México.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s-MX" altLang="es-MX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Comercializa 4 categorías principales: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Lentes de contacto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Óptico / Oftálmico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Solar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Otros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s-MX" altLang="es-MX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 reto: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Integrar los datos históricos.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Generar analítica descriptiva sólida.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Proyectar ventas mensuales 2025.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Entregar </a:t>
            </a:r>
            <a:r>
              <a:rPr kumimoji="0" lang="es-MX" altLang="es-MX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insights</a:t>
            </a: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oportunidades de crecimiento y riesgos operativos.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MX" altLang="es-MX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654FA430-8BF1-0D7D-BC72-7E4AD45E84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535" y="3148144"/>
            <a:ext cx="5056465" cy="2647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58708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BDD16D-C7B4-2EEF-68E6-D0337FBA57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Objetivo del proyecto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7C41B13-3D0D-86D1-1495-C6D2C3D656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2200" y="1638300"/>
            <a:ext cx="9969500" cy="5092700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s-MX" sz="4000" dirty="0">
                <a:latin typeface="Arial" panose="020B0604020202020204" pitchFamily="34" charset="0"/>
                <a:cs typeface="Arial" panose="020B0604020202020204" pitchFamily="34" charset="0"/>
              </a:rPr>
              <a:t>Objetivo general</a:t>
            </a:r>
          </a:p>
          <a:p>
            <a:r>
              <a:rPr lang="es-MX" sz="4000" dirty="0">
                <a:latin typeface="Arial" panose="020B0604020202020204" pitchFamily="34" charset="0"/>
                <a:cs typeface="Arial" panose="020B0604020202020204" pitchFamily="34" charset="0"/>
              </a:rPr>
              <a:t>Construir un </a:t>
            </a:r>
            <a:r>
              <a:rPr lang="es-MX" sz="4000" b="1" dirty="0">
                <a:latin typeface="Arial" panose="020B0604020202020204" pitchFamily="34" charset="0"/>
                <a:cs typeface="Arial" panose="020B0604020202020204" pitchFamily="34" charset="0"/>
              </a:rPr>
              <a:t>análisis integral</a:t>
            </a:r>
            <a:r>
              <a:rPr lang="es-MX" sz="4000" dirty="0">
                <a:latin typeface="Arial" panose="020B0604020202020204" pitchFamily="34" charset="0"/>
                <a:cs typeface="Arial" panose="020B0604020202020204" pitchFamily="34" charset="0"/>
              </a:rPr>
              <a:t> del comportamiento de ventas y desarrollar un </a:t>
            </a:r>
            <a:r>
              <a:rPr lang="es-MX" sz="4000" b="1" dirty="0">
                <a:latin typeface="Arial" panose="020B0604020202020204" pitchFamily="34" charset="0"/>
                <a:cs typeface="Arial" panose="020B0604020202020204" pitchFamily="34" charset="0"/>
              </a:rPr>
              <a:t>modelo de predicción confiable</a:t>
            </a:r>
            <a:r>
              <a:rPr lang="es-MX" sz="4000" dirty="0">
                <a:latin typeface="Arial" panose="020B0604020202020204" pitchFamily="34" charset="0"/>
                <a:cs typeface="Arial" panose="020B0604020202020204" pitchFamily="34" charset="0"/>
              </a:rPr>
              <a:t> para estimar las ventas del año </a:t>
            </a:r>
            <a:r>
              <a:rPr lang="es-MX" sz="4000" b="1" dirty="0">
                <a:latin typeface="Arial" panose="020B0604020202020204" pitchFamily="34" charset="0"/>
                <a:cs typeface="Arial" panose="020B0604020202020204" pitchFamily="34" charset="0"/>
              </a:rPr>
              <a:t>2025</a:t>
            </a:r>
            <a:r>
              <a:rPr lang="es-MX" sz="40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es-MX" sz="4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s-MX" sz="4000" dirty="0">
                <a:latin typeface="Arial" panose="020B0604020202020204" pitchFamily="34" charset="0"/>
                <a:cs typeface="Arial" panose="020B0604020202020204" pitchFamily="34" charset="0"/>
              </a:rPr>
              <a:t>Objetivos específicos</a:t>
            </a:r>
          </a:p>
          <a:p>
            <a:r>
              <a:rPr lang="es-MX" sz="4000" dirty="0">
                <a:latin typeface="Arial" panose="020B0604020202020204" pitchFamily="34" charset="0"/>
                <a:cs typeface="Arial" panose="020B0604020202020204" pitchFamily="34" charset="0"/>
              </a:rPr>
              <a:t>Realizar un </a:t>
            </a:r>
            <a:r>
              <a:rPr lang="es-MX" sz="4000" b="1" dirty="0">
                <a:latin typeface="Arial" panose="020B0604020202020204" pitchFamily="34" charset="0"/>
                <a:cs typeface="Arial" panose="020B0604020202020204" pitchFamily="34" charset="0"/>
              </a:rPr>
              <a:t>EDA exhaustivo</a:t>
            </a:r>
            <a:r>
              <a:rPr lang="es-MX" sz="4000" dirty="0">
                <a:latin typeface="Arial" panose="020B0604020202020204" pitchFamily="34" charset="0"/>
                <a:cs typeface="Arial" panose="020B0604020202020204" pitchFamily="34" charset="0"/>
              </a:rPr>
              <a:t> para encontrar estacionalidades, tendencias y anomalías.</a:t>
            </a:r>
          </a:p>
          <a:p>
            <a:r>
              <a:rPr lang="es-MX" sz="4000" dirty="0">
                <a:latin typeface="Arial" panose="020B0604020202020204" pitchFamily="34" charset="0"/>
                <a:cs typeface="Arial" panose="020B0604020202020204" pitchFamily="34" charset="0"/>
              </a:rPr>
              <a:t>Identificar el impacto de variables como:</a:t>
            </a:r>
          </a:p>
          <a:p>
            <a:pPr lvl="1"/>
            <a:r>
              <a:rPr lang="es-MX" sz="4000" dirty="0">
                <a:latin typeface="Arial" panose="020B0604020202020204" pitchFamily="34" charset="0"/>
                <a:cs typeface="Arial" panose="020B0604020202020204" pitchFamily="34" charset="0"/>
              </a:rPr>
              <a:t>Descuentos.</a:t>
            </a:r>
          </a:p>
          <a:p>
            <a:pPr lvl="1"/>
            <a:r>
              <a:rPr lang="es-MX" sz="4000" dirty="0">
                <a:latin typeface="Arial" panose="020B0604020202020204" pitchFamily="34" charset="0"/>
                <a:cs typeface="Arial" panose="020B0604020202020204" pitchFamily="34" charset="0"/>
              </a:rPr>
              <a:t>Categoría de venta.</a:t>
            </a:r>
          </a:p>
          <a:p>
            <a:pPr lvl="1"/>
            <a:r>
              <a:rPr lang="es-MX" sz="4000" dirty="0">
                <a:latin typeface="Arial" panose="020B0604020202020204" pitchFamily="34" charset="0"/>
                <a:cs typeface="Arial" panose="020B0604020202020204" pitchFamily="34" charset="0"/>
              </a:rPr>
              <a:t>Formato de tienda.</a:t>
            </a:r>
          </a:p>
          <a:p>
            <a:pPr lvl="1"/>
            <a:r>
              <a:rPr lang="es-MX" sz="4000" dirty="0">
                <a:latin typeface="Arial" panose="020B0604020202020204" pitchFamily="34" charset="0"/>
                <a:cs typeface="Arial" panose="020B0604020202020204" pitchFamily="34" charset="0"/>
              </a:rPr>
              <a:t>Distribución geográfica.</a:t>
            </a:r>
          </a:p>
          <a:p>
            <a:r>
              <a:rPr lang="es-MX" sz="4000" dirty="0">
                <a:latin typeface="Arial" panose="020B0604020202020204" pitchFamily="34" charset="0"/>
                <a:cs typeface="Arial" panose="020B0604020202020204" pitchFamily="34" charset="0"/>
              </a:rPr>
              <a:t>Implementar un </a:t>
            </a:r>
            <a:r>
              <a:rPr lang="es-MX" sz="4000" b="1" dirty="0">
                <a:latin typeface="Arial" panose="020B0604020202020204" pitchFamily="34" charset="0"/>
                <a:cs typeface="Arial" panose="020B0604020202020204" pitchFamily="34" charset="0"/>
              </a:rPr>
              <a:t>modelo predictivo robusto</a:t>
            </a:r>
            <a:r>
              <a:rPr lang="es-MX" sz="4000" dirty="0">
                <a:latin typeface="Arial" panose="020B0604020202020204" pitchFamily="34" charset="0"/>
                <a:cs typeface="Arial" panose="020B0604020202020204" pitchFamily="34" charset="0"/>
              </a:rPr>
              <a:t>, evaluado con métricas estadísticas.</a:t>
            </a:r>
          </a:p>
          <a:p>
            <a:r>
              <a:rPr lang="es-MX" sz="4000" dirty="0">
                <a:latin typeface="Arial" panose="020B0604020202020204" pitchFamily="34" charset="0"/>
                <a:cs typeface="Arial" panose="020B0604020202020204" pitchFamily="34" charset="0"/>
              </a:rPr>
              <a:t>Traducir resultados en </a:t>
            </a:r>
            <a:r>
              <a:rPr lang="es-MX" sz="4000" b="1" dirty="0">
                <a:latin typeface="Arial" panose="020B0604020202020204" pitchFamily="34" charset="0"/>
                <a:cs typeface="Arial" panose="020B0604020202020204" pitchFamily="34" charset="0"/>
              </a:rPr>
              <a:t>recomendaciones estratégicas accionables</a:t>
            </a:r>
            <a:r>
              <a:rPr lang="es-MX" sz="40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es-MX" sz="4000" dirty="0">
                <a:latin typeface="Arial" panose="020B0604020202020204" pitchFamily="34" charset="0"/>
                <a:cs typeface="Arial" panose="020B0604020202020204" pitchFamily="34" charset="0"/>
              </a:rPr>
              <a:t>Crear un </a:t>
            </a:r>
            <a:r>
              <a:rPr lang="es-MX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dashboard</a:t>
            </a:r>
            <a:r>
              <a:rPr lang="es-MX" sz="4000" b="1" dirty="0">
                <a:latin typeface="Arial" panose="020B0604020202020204" pitchFamily="34" charset="0"/>
                <a:cs typeface="Arial" panose="020B0604020202020204" pitchFamily="34" charset="0"/>
              </a:rPr>
              <a:t> interactivo en </a:t>
            </a:r>
            <a:r>
              <a:rPr lang="es-MX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Power</a:t>
            </a:r>
            <a:r>
              <a:rPr lang="es-MX" sz="4000" b="1" dirty="0">
                <a:latin typeface="Arial" panose="020B0604020202020204" pitchFamily="34" charset="0"/>
                <a:cs typeface="Arial" panose="020B0604020202020204" pitchFamily="34" charset="0"/>
              </a:rPr>
              <a:t> BI</a:t>
            </a:r>
            <a:r>
              <a:rPr lang="es-MX" sz="4000" dirty="0">
                <a:latin typeface="Arial" panose="020B0604020202020204" pitchFamily="34" charset="0"/>
                <a:cs typeface="Arial" panose="020B0604020202020204" pitchFamily="34" charset="0"/>
              </a:rPr>
              <a:t> para visualizar la información.</a:t>
            </a:r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538853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C4366E-1ED6-DD44-3685-E71BB14D59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Alcance y fuentes de datos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11CFA53-9D5E-9FBC-6702-A8515603B2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s-MX" dirty="0"/>
              <a:t>Fuentes de datos</a:t>
            </a:r>
          </a:p>
          <a:p>
            <a:r>
              <a:rPr lang="es-MX" dirty="0"/>
              <a:t>Base de </a:t>
            </a:r>
            <a:r>
              <a:rPr lang="es-MX" b="1" dirty="0"/>
              <a:t>ventas históricas (2022–2024)</a:t>
            </a:r>
            <a:r>
              <a:rPr lang="es-MX" dirty="0"/>
              <a:t>.</a:t>
            </a:r>
          </a:p>
          <a:p>
            <a:r>
              <a:rPr lang="es-MX" dirty="0"/>
              <a:t>Información de sucursales:</a:t>
            </a:r>
          </a:p>
          <a:p>
            <a:pPr lvl="1"/>
            <a:r>
              <a:rPr lang="es-MX" dirty="0"/>
              <a:t>Formato de tienda.</a:t>
            </a:r>
          </a:p>
          <a:p>
            <a:pPr lvl="1"/>
            <a:r>
              <a:rPr lang="es-MX" dirty="0"/>
              <a:t>Categoría.</a:t>
            </a:r>
          </a:p>
          <a:p>
            <a:pPr lvl="1"/>
            <a:r>
              <a:rPr lang="es-MX" dirty="0"/>
              <a:t>Ubicación.</a:t>
            </a:r>
          </a:p>
          <a:p>
            <a:r>
              <a:rPr lang="es-MX" dirty="0"/>
              <a:t>Datos de </a:t>
            </a:r>
            <a:r>
              <a:rPr lang="es-MX" b="1" dirty="0"/>
              <a:t>descuentos aplicados por categoría</a:t>
            </a:r>
            <a:r>
              <a:rPr lang="es-MX" dirty="0"/>
              <a:t>.</a:t>
            </a:r>
          </a:p>
          <a:p>
            <a:r>
              <a:rPr lang="es-MX" dirty="0"/>
              <a:t>Información </a:t>
            </a:r>
            <a:r>
              <a:rPr lang="es-MX" b="1" dirty="0"/>
              <a:t>agregada por mes y año</a:t>
            </a:r>
            <a:r>
              <a:rPr lang="es-MX" dirty="0"/>
              <a:t> para trabajar como serie de tiempo.</a:t>
            </a:r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5686952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25A7D3-F424-5157-CA37-283B085254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Alcance del proyecto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322CB37-8660-4DB2-7EA9-D6CBCFB887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0711"/>
            <a:ext cx="7799363" cy="5148775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s-MX" dirty="0"/>
          </a:p>
          <a:p>
            <a:r>
              <a:rPr lang="es-MX" dirty="0"/>
              <a:t>Limpieza, validación y </a:t>
            </a:r>
            <a:r>
              <a:rPr lang="es-MX" b="1" dirty="0"/>
              <a:t>estructuración de los datos</a:t>
            </a:r>
            <a:r>
              <a:rPr lang="es-MX" dirty="0"/>
              <a:t>.</a:t>
            </a:r>
          </a:p>
          <a:p>
            <a:r>
              <a:rPr lang="es-MX" dirty="0"/>
              <a:t>Modelado mensual de </a:t>
            </a:r>
            <a:r>
              <a:rPr lang="es-MX" b="1" dirty="0"/>
              <a:t>tendencias</a:t>
            </a:r>
            <a:r>
              <a:rPr lang="es-MX" dirty="0"/>
              <a:t> y </a:t>
            </a:r>
            <a:r>
              <a:rPr lang="es-MX" b="1" dirty="0"/>
              <a:t>estacionalidad</a:t>
            </a:r>
            <a:r>
              <a:rPr lang="es-MX" dirty="0"/>
              <a:t>.</a:t>
            </a:r>
          </a:p>
          <a:p>
            <a:r>
              <a:rPr lang="es-MX" dirty="0"/>
              <a:t>Creación de </a:t>
            </a:r>
            <a:r>
              <a:rPr lang="es-MX" b="1" dirty="0" err="1"/>
              <a:t>KPIs</a:t>
            </a:r>
            <a:r>
              <a:rPr lang="es-MX" dirty="0"/>
              <a:t>:</a:t>
            </a:r>
          </a:p>
          <a:p>
            <a:pPr lvl="1"/>
            <a:r>
              <a:rPr lang="es-MX" dirty="0"/>
              <a:t>Crecimiento anual.</a:t>
            </a:r>
          </a:p>
          <a:p>
            <a:pPr lvl="1"/>
            <a:r>
              <a:rPr lang="es-MX" dirty="0"/>
              <a:t>Variación mensual.</a:t>
            </a:r>
          </a:p>
          <a:p>
            <a:pPr lvl="1"/>
            <a:r>
              <a:rPr lang="es-MX" dirty="0"/>
              <a:t>Ticket promedio.</a:t>
            </a:r>
          </a:p>
          <a:p>
            <a:pPr lvl="1"/>
            <a:r>
              <a:rPr lang="es-MX" dirty="0"/>
              <a:t>Mejores sucursales.</a:t>
            </a:r>
          </a:p>
          <a:p>
            <a:pPr lvl="1"/>
            <a:r>
              <a:rPr lang="es-MX" dirty="0"/>
              <a:t>Categorías más rentables.</a:t>
            </a:r>
          </a:p>
          <a:p>
            <a:r>
              <a:rPr lang="es-MX" b="1" dirty="0"/>
              <a:t>Predicciones mensuales 2025</a:t>
            </a:r>
            <a:r>
              <a:rPr lang="es-MX" dirty="0"/>
              <a:t>, con intervalos de confianza.</a:t>
            </a:r>
          </a:p>
          <a:p>
            <a:r>
              <a:rPr lang="es-MX" b="1" dirty="0" err="1"/>
              <a:t>Dashboard</a:t>
            </a:r>
            <a:r>
              <a:rPr lang="es-MX" b="1" dirty="0"/>
              <a:t> interactivo</a:t>
            </a:r>
            <a:r>
              <a:rPr lang="es-MX" dirty="0"/>
              <a:t> para visualización ejecutiva.</a:t>
            </a:r>
          </a:p>
          <a:p>
            <a:endParaRPr lang="es-MX" dirty="0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690C0B4C-1C80-51A7-63A1-AC65DF8C6B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5475" y="571465"/>
            <a:ext cx="2638168" cy="1119223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64ED9A15-B6C1-3181-9B12-18D53C9CC6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5475" y="2237448"/>
            <a:ext cx="2686132" cy="1119222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47335C70-13C0-551D-D4C7-F13C551D623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4219" y="3748685"/>
            <a:ext cx="2686131" cy="1131892"/>
          </a:xfrm>
          <a:prstGeom prst="rect">
            <a:avLst/>
          </a:prstGeom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EE20661B-92B9-9020-D583-2680CBE8EEC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80663" y="5272592"/>
            <a:ext cx="2482980" cy="1139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71844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01AAFC-C908-E9BB-955E-BC5F6967F1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Análisis exploratorio – Patrones mensuales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87C17CC-DED5-8628-6A3D-561E940E65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81900" y="1574800"/>
            <a:ext cx="4254500" cy="449580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s-MX" dirty="0"/>
          </a:p>
          <a:p>
            <a:r>
              <a:rPr lang="es-MX" dirty="0"/>
              <a:t>Se identificó un </a:t>
            </a:r>
            <a:r>
              <a:rPr lang="es-MX" b="1" dirty="0"/>
              <a:t>crecimiento sostenido</a:t>
            </a:r>
            <a:r>
              <a:rPr lang="es-MX" dirty="0"/>
              <a:t> desde 2023.</a:t>
            </a:r>
          </a:p>
          <a:p>
            <a:r>
              <a:rPr lang="es-MX" dirty="0"/>
              <a:t>Los meses con mayor incremento suelen ubicarse al </a:t>
            </a:r>
            <a:r>
              <a:rPr lang="es-MX" b="1" dirty="0"/>
              <a:t>cierre de año</a:t>
            </a:r>
            <a:r>
              <a:rPr lang="es-MX" dirty="0"/>
              <a:t>:</a:t>
            </a:r>
          </a:p>
          <a:p>
            <a:pPr lvl="1"/>
            <a:r>
              <a:rPr lang="es-MX" dirty="0"/>
              <a:t>Mayor renuevo de lentes.</a:t>
            </a:r>
          </a:p>
          <a:p>
            <a:pPr lvl="1"/>
            <a:r>
              <a:rPr lang="es-MX" dirty="0"/>
              <a:t>Mayor uso de promociones.</a:t>
            </a:r>
          </a:p>
          <a:p>
            <a:r>
              <a:rPr lang="es-MX" dirty="0"/>
              <a:t>El comportamiento mensual respalda la necesidad de:</a:t>
            </a:r>
          </a:p>
          <a:p>
            <a:pPr lvl="1"/>
            <a:r>
              <a:rPr lang="es-MX" dirty="0"/>
              <a:t>Planear inventarios.</a:t>
            </a:r>
          </a:p>
          <a:p>
            <a:pPr lvl="1"/>
            <a:r>
              <a:rPr lang="es-MX" dirty="0"/>
              <a:t>Ajustar campañas según temporada.</a:t>
            </a:r>
          </a:p>
          <a:p>
            <a:endParaRPr lang="es-MX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B79CC47-9C19-6812-983D-39F392A1E9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574" y="3421513"/>
            <a:ext cx="6554310" cy="2986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6065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1E0B8A-F8E6-579D-2C62-E9FC0E440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Análisis exploratorio – Por categoría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3B1D7BE-6352-4B79-93AE-B0BDA0D21DE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27100" y="1890801"/>
            <a:ext cx="7925972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Óptico/Oftálmico</a:t>
            </a: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Categoría dominante en ventas totales.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s-MX" altLang="es-MX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Lentes de contacto</a:t>
            </a: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Estables, con tendencia </a:t>
            </a:r>
            <a:r>
              <a:rPr kumimoji="0" lang="es-MX" altLang="es-MX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ligeramente creciente</a:t>
            </a: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s-MX" altLang="es-MX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Solar</a:t>
            </a: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Presenta </a:t>
            </a:r>
            <a:r>
              <a:rPr kumimoji="0" lang="es-MX" altLang="es-MX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estacionalidad marcada</a:t>
            </a: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(picos en verano).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s-MX" altLang="es-MX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Otros</a:t>
            </a: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Participación menor pero estable.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MX" altLang="es-MX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6CB0B502-3052-0686-94C3-71D9171961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7719" y="2431193"/>
            <a:ext cx="5404281" cy="3584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29978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F03B65-CE45-83AD-08F3-514BD61BE7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3039" y="461254"/>
            <a:ext cx="10515600" cy="1325563"/>
          </a:xfrm>
        </p:spPr>
        <p:txBody>
          <a:bodyPr>
            <a:normAutofit/>
          </a:bodyPr>
          <a:lstStyle/>
          <a:p>
            <a:r>
              <a:rPr lang="es-MX" dirty="0"/>
              <a:t>Análisis exploratorio – Formato y sucursales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69A75E4-7112-EE1A-40F2-AB09BE98B65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427358" y="1443841"/>
            <a:ext cx="5824024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Formatos E, F y D</a:t>
            </a: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concentran la mayor parte de las ventas.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Formatos A, B y G</a:t>
            </a: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Menor contribución, pero </a:t>
            </a:r>
            <a:r>
              <a:rPr kumimoji="0" lang="es-MX" altLang="es-MX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estables año con año</a:t>
            </a: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nivel sucursal: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 </a:t>
            </a:r>
            <a:r>
              <a:rPr kumimoji="0" lang="es-MX" altLang="es-MX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top 10%</a:t>
            </a: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sucursales concentra una proporción importante de ventas.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Existen sucursales de bajo rendimiento que requieren revisión: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Ubicación.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Personal.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Inventario.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Estrategia comercial.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MX" altLang="es-MX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077012AA-DCD4-3199-E205-B82677D01C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137" y="3429000"/>
            <a:ext cx="5655221" cy="2866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20082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C49F41-DB11-7220-0F16-0076F75A7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Análisis exploratorio – Impacto de los descuentos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27FF046-81D9-D60A-B18F-634344ABA6D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42340" y="2395478"/>
            <a:ext cx="6280052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 </a:t>
            </a:r>
            <a:r>
              <a:rPr kumimoji="0" lang="es-MX" altLang="es-MX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nivel de descuentos es estable</a:t>
            </a: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 se observa una </a:t>
            </a:r>
            <a:r>
              <a:rPr kumimoji="0" lang="es-MX" altLang="es-MX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correlación fuerte</a:t>
            </a: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entre descuentos y picos de ventas.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Las promociones </a:t>
            </a:r>
            <a:r>
              <a:rPr kumimoji="0" lang="es-MX" altLang="es-MX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 parecen ser el impulsor principal</a:t>
            </a: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del crecimiento.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Otros factores con mayor peso: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Ubicación.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Categoría.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Formato de tienda.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MX" altLang="es-MX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93933090-F341-42B8-F1BF-6047399A49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8864" y="3826639"/>
            <a:ext cx="5071762" cy="2670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97119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61FA9C-B6F9-118A-77F0-D30B0E87F7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. </a:t>
            </a:r>
            <a:r>
              <a:rPr lang="es-MX" dirty="0" err="1"/>
              <a:t>Dashboard</a:t>
            </a:r>
            <a:r>
              <a:rPr lang="es-MX" dirty="0"/>
              <a:t> interactivo (</a:t>
            </a:r>
            <a:r>
              <a:rPr lang="es-MX" dirty="0" err="1"/>
              <a:t>Power</a:t>
            </a:r>
            <a:r>
              <a:rPr lang="es-MX" dirty="0"/>
              <a:t> BI)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A05C8C9-65A7-53BC-34AC-0B7BDAEE3C5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897093"/>
            <a:ext cx="10331548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 </a:t>
            </a:r>
            <a:r>
              <a:rPr kumimoji="0" lang="es-MX" altLang="es-MX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dashboard</a:t>
            </a: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incluye visualizaciones de: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s-MX" altLang="es-MX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KPIs</a:t>
            </a: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clave: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Crecimiento anual.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Ticket promedio.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Sucursales activas.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Ventas por categoría.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Ventas por formato de tienda.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Ventas históricas vs año pasado.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Relación ventas–descuentos.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Ventas totales acumuladas (2022–2024).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Predicciones para 2025 (totales, mensuales y variación vs 2024).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MX" altLang="es-MX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Todas las vistas permiten filtro dinámico por: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Año, categoría, formato, nivel de descuento y mes.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MX" altLang="es-MX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0254CABE-890E-D67E-FA51-D34E4D2099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8391" y="1428750"/>
            <a:ext cx="6130559" cy="3482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0861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D74144-73BE-7CED-5D53-DDF7FE49D9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Modelado predictivo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0AF6E11-4E73-4141-D7B1-7E47139991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08495" y="1708052"/>
            <a:ext cx="7911905" cy="4772123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s-MX" dirty="0"/>
              <a:t>Se evaluaron varios modelos de series de tiempo.</a:t>
            </a:r>
          </a:p>
          <a:p>
            <a:pPr marL="0" indent="0">
              <a:buNone/>
            </a:pPr>
            <a:r>
              <a:rPr lang="es-MX" dirty="0"/>
              <a:t>Modelo seleccionado:</a:t>
            </a:r>
          </a:p>
          <a:p>
            <a:pPr lvl="1"/>
            <a:r>
              <a:rPr lang="es-MX" b="1" dirty="0"/>
              <a:t>Holt-</a:t>
            </a:r>
            <a:r>
              <a:rPr lang="es-MX" b="1" dirty="0" err="1"/>
              <a:t>Winters</a:t>
            </a:r>
            <a:r>
              <a:rPr lang="es-MX" b="1" dirty="0"/>
              <a:t> (</a:t>
            </a:r>
            <a:r>
              <a:rPr lang="es-MX" b="1" dirty="0" err="1"/>
              <a:t>Exponential</a:t>
            </a:r>
            <a:r>
              <a:rPr lang="es-MX" b="1" dirty="0"/>
              <a:t> </a:t>
            </a:r>
            <a:r>
              <a:rPr lang="es-MX" b="1" dirty="0" err="1"/>
              <a:t>Smoothing</a:t>
            </a:r>
            <a:r>
              <a:rPr lang="es-MX" b="1" dirty="0"/>
              <a:t>) – Aditivo</a:t>
            </a:r>
            <a:endParaRPr lang="es-MX" dirty="0"/>
          </a:p>
          <a:p>
            <a:pPr marL="0" indent="0">
              <a:buNone/>
            </a:pPr>
            <a:endParaRPr lang="es-MX" dirty="0"/>
          </a:p>
          <a:p>
            <a:pPr marL="0" indent="0">
              <a:buNone/>
            </a:pPr>
            <a:r>
              <a:rPr lang="es-MX" dirty="0"/>
              <a:t>Razones:</a:t>
            </a:r>
          </a:p>
          <a:p>
            <a:pPr lvl="1"/>
            <a:r>
              <a:rPr lang="es-MX" dirty="0"/>
              <a:t>Captura </a:t>
            </a:r>
            <a:r>
              <a:rPr lang="es-MX" b="1" dirty="0"/>
              <a:t>tendencia creciente</a:t>
            </a:r>
            <a:r>
              <a:rPr lang="es-MX" dirty="0"/>
              <a:t> de manera flexible.</a:t>
            </a:r>
          </a:p>
          <a:p>
            <a:pPr lvl="1"/>
            <a:r>
              <a:rPr lang="es-MX" dirty="0"/>
              <a:t>Reconoce patrones mensuales sin sobredimensionar la estacionalidad.</a:t>
            </a:r>
          </a:p>
          <a:p>
            <a:pPr lvl="1"/>
            <a:r>
              <a:rPr lang="es-MX" dirty="0"/>
              <a:t>Es </a:t>
            </a:r>
            <a:r>
              <a:rPr lang="es-MX" b="1" dirty="0"/>
              <a:t>interpretable, estable</a:t>
            </a:r>
            <a:r>
              <a:rPr lang="es-MX" dirty="0"/>
              <a:t> y adecuado para una serie con pocos años de histórico.</a:t>
            </a:r>
          </a:p>
          <a:p>
            <a:endParaRPr lang="es-MX" b="1" dirty="0"/>
          </a:p>
          <a:p>
            <a:pPr marL="0" indent="0">
              <a:buNone/>
            </a:pPr>
            <a:r>
              <a:rPr lang="es-MX" dirty="0"/>
              <a:t>Métricas (validación en 2024):</a:t>
            </a:r>
          </a:p>
          <a:p>
            <a:r>
              <a:rPr lang="es-MX" b="1" dirty="0"/>
              <a:t>MAE ≈ 231</a:t>
            </a:r>
            <a:endParaRPr lang="es-MX" dirty="0"/>
          </a:p>
          <a:p>
            <a:r>
              <a:rPr lang="es-MX" b="1" dirty="0"/>
              <a:t>RMSE ≈ 332</a:t>
            </a:r>
            <a:endParaRPr lang="es-MX" dirty="0"/>
          </a:p>
          <a:p>
            <a:r>
              <a:rPr lang="es-MX" b="1" dirty="0"/>
              <a:t>R² ≈ 0.68</a:t>
            </a:r>
            <a:endParaRPr lang="es-MX" dirty="0"/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8265334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BE7F47-4E0E-EA91-0943-6EECB7DEA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Predicción de ventas 2025 – Resultados globales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390A012-13A1-CA8D-0616-F573BD8E91B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41400" y="3072896"/>
            <a:ext cx="6654800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📈 </a:t>
            </a:r>
            <a:r>
              <a:rPr kumimoji="0" lang="es-MX" altLang="es-MX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Ventas totales pronosticadas 2025:</a:t>
            </a: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MX" altLang="es-MX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368,106</a:t>
            </a:r>
            <a:endParaRPr kumimoji="0" lang="es-MX" altLang="es-MX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🔼 </a:t>
            </a:r>
            <a:r>
              <a:rPr kumimoji="0" lang="es-MX" altLang="es-MX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Incremento vs 2024:</a:t>
            </a: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MX" altLang="es-MX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+6.98%</a:t>
            </a:r>
            <a:endParaRPr kumimoji="0" lang="es-MX" altLang="es-MX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s-MX" altLang="es-MX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Interpretación: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Crecimiento </a:t>
            </a:r>
            <a:r>
              <a:rPr kumimoji="0" lang="es-MX" altLang="es-MX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moderado y sostenible</a:t>
            </a: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alineado con la tendencia de los últimos años.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MX" altLang="es-MX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 modelo no proyecta saltos artificiales, sino una evolución consistente.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MX" altLang="es-MX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B25F8C9B-10C3-AB28-1B19-A4334CE5F1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2805" y="1690688"/>
            <a:ext cx="3586672" cy="4319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87704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B1953E-E174-C532-EA1B-7CB94EBC4A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Comportamientos previstos y riesgos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260AB4E-81F9-6ECC-CFD5-725CD94A1D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9200" y="1574800"/>
            <a:ext cx="8382000" cy="51689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MX" dirty="0"/>
              <a:t>Comportamientos previstos</a:t>
            </a:r>
          </a:p>
          <a:p>
            <a:r>
              <a:rPr lang="es-MX" dirty="0"/>
              <a:t>Crecimiento fuerte en el </a:t>
            </a:r>
            <a:r>
              <a:rPr lang="es-MX" b="1" dirty="0"/>
              <a:t>último trimestre de 2025</a:t>
            </a:r>
            <a:r>
              <a:rPr lang="es-MX" dirty="0"/>
              <a:t>.</a:t>
            </a:r>
          </a:p>
          <a:p>
            <a:r>
              <a:rPr lang="es-MX" dirty="0"/>
              <a:t>Estabilidad en los meses intermedios.</a:t>
            </a:r>
          </a:p>
          <a:p>
            <a:r>
              <a:rPr lang="es-MX" dirty="0"/>
              <a:t>Aumento leve pero constante en:</a:t>
            </a:r>
          </a:p>
          <a:p>
            <a:pPr lvl="1"/>
            <a:r>
              <a:rPr lang="es-MX" dirty="0"/>
              <a:t>Óptico.</a:t>
            </a:r>
          </a:p>
          <a:p>
            <a:pPr lvl="1"/>
            <a:r>
              <a:rPr lang="es-MX" dirty="0"/>
              <a:t>Lentes de contacto.</a:t>
            </a:r>
          </a:p>
          <a:p>
            <a:pPr marL="457200" lvl="1" indent="0">
              <a:buNone/>
            </a:pPr>
            <a:endParaRPr lang="es-MX" dirty="0"/>
          </a:p>
          <a:p>
            <a:pPr marL="0" indent="0">
              <a:buNone/>
            </a:pPr>
            <a:r>
              <a:rPr lang="es-MX" dirty="0"/>
              <a:t>Áreas de riesgo</a:t>
            </a:r>
          </a:p>
          <a:p>
            <a:r>
              <a:rPr lang="es-MX" dirty="0"/>
              <a:t>Posibles caídas en </a:t>
            </a:r>
            <a:r>
              <a:rPr lang="es-MX" b="1" dirty="0"/>
              <a:t>sucursales de bajo desempeño</a:t>
            </a:r>
            <a:r>
              <a:rPr lang="es-MX" dirty="0"/>
              <a:t>.</a:t>
            </a:r>
          </a:p>
          <a:p>
            <a:r>
              <a:rPr lang="es-MX" dirty="0"/>
              <a:t>Categoría </a:t>
            </a:r>
            <a:r>
              <a:rPr lang="es-MX" b="1" dirty="0"/>
              <a:t>Solar</a:t>
            </a:r>
            <a:r>
              <a:rPr lang="es-MX" dirty="0"/>
              <a:t> demasiado dependiente de estacionalidad.</a:t>
            </a:r>
          </a:p>
          <a:p>
            <a:r>
              <a:rPr lang="es-MX" b="1" dirty="0"/>
              <a:t>Descuentos</a:t>
            </a:r>
            <a:r>
              <a:rPr lang="es-MX" dirty="0"/>
              <a:t> sin efecto significativo:</a:t>
            </a:r>
          </a:p>
          <a:p>
            <a:pPr lvl="1"/>
            <a:r>
              <a:rPr lang="es-MX" dirty="0"/>
              <a:t>Indicio de </a:t>
            </a:r>
            <a:r>
              <a:rPr lang="es-MX" b="1" dirty="0"/>
              <a:t>ineficiencia operativa</a:t>
            </a:r>
            <a:r>
              <a:rPr lang="es-MX" dirty="0"/>
              <a:t> o promociones mal diseñadas.</a:t>
            </a:r>
          </a:p>
          <a:p>
            <a:endParaRPr lang="es-MX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E7B176B-FC6F-73DB-6D7B-3BB0400760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7625" y="2171700"/>
            <a:ext cx="4477375" cy="2762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874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36B0B2-263E-F935-28E9-754D742294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Recomendaciones estratégicas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ACFE1D0-4A19-586A-3BAB-FF90117D7A8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225800" y="1639939"/>
            <a:ext cx="7497565" cy="5078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s-MX" altLang="es-MX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Fortalecer formatos E, D y F</a:t>
            </a:r>
            <a:endParaRPr kumimoji="0" lang="es-MX" altLang="es-MX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Formatos que sostienen el negocio; priorizarles inventario y marketing.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s-MX" altLang="es-MX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s-MX" altLang="es-MX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  Revisar sucursales con bajo desempeño</a:t>
            </a:r>
            <a:endParaRPr kumimoji="0" lang="es-MX" altLang="es-MX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Revisar ubicación, personal, inventario y efectividad de promociones.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s-MX" altLang="es-MX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s-MX" altLang="es-MX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3.  Reducir dependencia de descuentos</a:t>
            </a:r>
            <a:endParaRPr kumimoji="0" lang="es-MX" altLang="es-MX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Los datos muestran que no impulsan ventas de forma significativa.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MX" altLang="es-MX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s-MX" altLang="es-MX" sz="1800" b="1" dirty="0">
                <a:latin typeface="Arial" panose="020B0604020202020204" pitchFamily="34" charset="0"/>
              </a:rPr>
              <a:t>4.  </a:t>
            </a:r>
            <a:r>
              <a:rPr kumimoji="0" lang="es-MX" altLang="es-MX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Expandir Óptico y Lentes de contacto</a:t>
            </a:r>
            <a:endParaRPr kumimoji="0" lang="es-MX" altLang="es-MX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Categorías con alta demanda y crecimiento continuo.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s-MX" altLang="es-MX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s-MX" altLang="es-MX" sz="1800" b="1" dirty="0">
                <a:latin typeface="Arial" panose="020B0604020202020204" pitchFamily="34" charset="0"/>
              </a:rPr>
              <a:t>5.  </a:t>
            </a:r>
            <a:r>
              <a:rPr kumimoji="0" lang="es-MX" altLang="es-MX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Estrategia específica para Solar</a:t>
            </a:r>
            <a:endParaRPr kumimoji="0" lang="es-MX" altLang="es-MX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Aprovechar picos estacionales con campañas de verano.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s-MX" altLang="es-MX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s-MX" altLang="es-MX" sz="1800" b="1" dirty="0">
                <a:latin typeface="Arial" panose="020B0604020202020204" pitchFamily="34" charset="0"/>
              </a:rPr>
              <a:t>6.  </a:t>
            </a:r>
            <a:r>
              <a:rPr kumimoji="0" lang="es-MX" altLang="es-MX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Preparar logística para el Q4–2025</a:t>
            </a:r>
            <a:endParaRPr kumimoji="0" lang="es-MX" altLang="es-MX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 modelo indica un </a:t>
            </a:r>
            <a:r>
              <a:rPr kumimoji="0" lang="es-MX" altLang="es-MX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cierre de año fuerte</a:t>
            </a: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MX" altLang="es-MX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35080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02B4AA-FAA1-CE3E-9DC9-498510C7F0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Conclusiones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20DF4F4-B073-1BFA-B9DF-6F75B89E3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576309"/>
            <a:ext cx="9601200" cy="5281691"/>
          </a:xfrm>
        </p:spPr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es-MX" sz="4000" dirty="0">
                <a:latin typeface="Arial" panose="020B0604020202020204" pitchFamily="34" charset="0"/>
                <a:cs typeface="Arial" panose="020B0604020202020204" pitchFamily="34" charset="0"/>
              </a:rPr>
              <a:t>El análisis demuestra que la empresa presenta un </a:t>
            </a:r>
            <a:r>
              <a:rPr lang="es-MX" sz="4000" b="1" dirty="0">
                <a:latin typeface="Arial" panose="020B0604020202020204" pitchFamily="34" charset="0"/>
                <a:cs typeface="Arial" panose="020B0604020202020204" pitchFamily="34" charset="0"/>
              </a:rPr>
              <a:t>crecimiento sostenido y sólido</a:t>
            </a:r>
            <a:r>
              <a:rPr lang="es-MX" sz="4000" dirty="0">
                <a:latin typeface="Arial" panose="020B0604020202020204" pitchFamily="34" charset="0"/>
                <a:cs typeface="Arial" panose="020B0604020202020204" pitchFamily="34" charset="0"/>
              </a:rPr>
              <a:t> en el periodo 2022–2024.</a:t>
            </a:r>
          </a:p>
          <a:p>
            <a:pPr marL="0" indent="0">
              <a:buNone/>
            </a:pPr>
            <a:r>
              <a:rPr lang="es-MX" sz="4000" dirty="0">
                <a:latin typeface="Arial" panose="020B0604020202020204" pitchFamily="34" charset="0"/>
                <a:cs typeface="Arial" panose="020B0604020202020204" pitchFamily="34" charset="0"/>
              </a:rPr>
              <a:t>El modelo predictivo ofrece </a:t>
            </a:r>
            <a:r>
              <a:rPr lang="es-MX" sz="4000" b="1" dirty="0">
                <a:latin typeface="Arial" panose="020B0604020202020204" pitchFamily="34" charset="0"/>
                <a:cs typeface="Arial" panose="020B0604020202020204" pitchFamily="34" charset="0"/>
              </a:rPr>
              <a:t>proyecciones confiables y accionables</a:t>
            </a:r>
            <a:r>
              <a:rPr lang="es-MX" sz="4000" dirty="0">
                <a:latin typeface="Arial" panose="020B0604020202020204" pitchFamily="34" charset="0"/>
                <a:cs typeface="Arial" panose="020B0604020202020204" pitchFamily="34" charset="0"/>
              </a:rPr>
              <a:t> para 2025.</a:t>
            </a:r>
          </a:p>
          <a:p>
            <a:r>
              <a:rPr lang="es-MX" sz="4000" dirty="0">
                <a:latin typeface="Arial" panose="020B0604020202020204" pitchFamily="34" charset="0"/>
                <a:cs typeface="Arial" panose="020B0604020202020204" pitchFamily="34" charset="0"/>
              </a:rPr>
              <a:t>Los </a:t>
            </a:r>
            <a:r>
              <a:rPr lang="es-MX" sz="4000" dirty="0" err="1">
                <a:latin typeface="Arial" panose="020B0604020202020204" pitchFamily="34" charset="0"/>
                <a:cs typeface="Arial" panose="020B0604020202020204" pitchFamily="34" charset="0"/>
              </a:rPr>
              <a:t>insights</a:t>
            </a:r>
            <a:r>
              <a:rPr lang="es-MX" sz="4000" dirty="0">
                <a:latin typeface="Arial" panose="020B0604020202020204" pitchFamily="34" charset="0"/>
                <a:cs typeface="Arial" panose="020B0604020202020204" pitchFamily="34" charset="0"/>
              </a:rPr>
              <a:t> permiten:</a:t>
            </a:r>
          </a:p>
          <a:p>
            <a:pPr lvl="1"/>
            <a:r>
              <a:rPr lang="es-MX" sz="4000" dirty="0">
                <a:latin typeface="Arial" panose="020B0604020202020204" pitchFamily="34" charset="0"/>
                <a:cs typeface="Arial" panose="020B0604020202020204" pitchFamily="34" charset="0"/>
              </a:rPr>
              <a:t>Detectar </a:t>
            </a:r>
            <a:r>
              <a:rPr lang="es-MX" sz="4000" b="1" dirty="0">
                <a:latin typeface="Arial" panose="020B0604020202020204" pitchFamily="34" charset="0"/>
                <a:cs typeface="Arial" panose="020B0604020202020204" pitchFamily="34" charset="0"/>
              </a:rPr>
              <a:t>áreas críticas</a:t>
            </a:r>
            <a:r>
              <a:rPr lang="es-MX" sz="40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lvl="1"/>
            <a:r>
              <a:rPr lang="es-MX" sz="4000" dirty="0">
                <a:latin typeface="Arial" panose="020B0604020202020204" pitchFamily="34" charset="0"/>
                <a:cs typeface="Arial" panose="020B0604020202020204" pitchFamily="34" charset="0"/>
              </a:rPr>
              <a:t>Optimizar </a:t>
            </a:r>
            <a:r>
              <a:rPr lang="es-MX" sz="4000" b="1" dirty="0">
                <a:latin typeface="Arial" panose="020B0604020202020204" pitchFamily="34" charset="0"/>
                <a:cs typeface="Arial" panose="020B0604020202020204" pitchFamily="34" charset="0"/>
              </a:rPr>
              <a:t>inventario y descuentos</a:t>
            </a:r>
            <a:r>
              <a:rPr lang="es-MX" sz="40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lvl="1"/>
            <a:r>
              <a:rPr lang="es-MX" sz="4000" dirty="0">
                <a:latin typeface="Arial" panose="020B0604020202020204" pitchFamily="34" charset="0"/>
                <a:cs typeface="Arial" panose="020B0604020202020204" pitchFamily="34" charset="0"/>
              </a:rPr>
              <a:t>Fortalecer estrategias de </a:t>
            </a:r>
            <a:r>
              <a:rPr lang="es-MX" sz="4000" b="1" dirty="0">
                <a:latin typeface="Arial" panose="020B0604020202020204" pitchFamily="34" charset="0"/>
                <a:cs typeface="Arial" panose="020B0604020202020204" pitchFamily="34" charset="0"/>
              </a:rPr>
              <a:t>categoría y formato</a:t>
            </a:r>
            <a:r>
              <a:rPr lang="es-MX" sz="40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es-MX" sz="4000" dirty="0">
                <a:latin typeface="Arial" panose="020B0604020202020204" pitchFamily="34" charset="0"/>
                <a:cs typeface="Arial" panose="020B0604020202020204" pitchFamily="34" charset="0"/>
              </a:rPr>
              <a:t>El </a:t>
            </a:r>
            <a:r>
              <a:rPr lang="es-MX" sz="4000" dirty="0" err="1">
                <a:latin typeface="Arial" panose="020B0604020202020204" pitchFamily="34" charset="0"/>
                <a:cs typeface="Arial" panose="020B0604020202020204" pitchFamily="34" charset="0"/>
              </a:rPr>
              <a:t>dashboard</a:t>
            </a:r>
            <a:r>
              <a:rPr lang="es-MX" sz="4000" dirty="0">
                <a:latin typeface="Arial" panose="020B0604020202020204" pitchFamily="34" charset="0"/>
                <a:cs typeface="Arial" panose="020B0604020202020204" pitchFamily="34" charset="0"/>
              </a:rPr>
              <a:t> permite a los ejecutivos:</a:t>
            </a:r>
          </a:p>
          <a:p>
            <a:pPr lvl="1"/>
            <a:r>
              <a:rPr lang="es-MX" sz="4000" dirty="0">
                <a:latin typeface="Arial" panose="020B0604020202020204" pitchFamily="34" charset="0"/>
                <a:cs typeface="Arial" panose="020B0604020202020204" pitchFamily="34" charset="0"/>
              </a:rPr>
              <a:t>Explorar datos en tiempo real.</a:t>
            </a:r>
          </a:p>
          <a:p>
            <a:pPr lvl="1"/>
            <a:r>
              <a:rPr lang="es-MX" sz="4000" dirty="0">
                <a:latin typeface="Arial" panose="020B0604020202020204" pitchFamily="34" charset="0"/>
                <a:cs typeface="Arial" panose="020B0604020202020204" pitchFamily="34" charset="0"/>
              </a:rPr>
              <a:t>Tomar decisiones rápidas basadas en evidencia.</a:t>
            </a:r>
          </a:p>
          <a:p>
            <a:pPr marL="0" indent="0">
              <a:buNone/>
            </a:pPr>
            <a:r>
              <a:rPr lang="es-MX" sz="4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0" indent="0">
              <a:buNone/>
            </a:pPr>
            <a:r>
              <a:rPr lang="es-MX" sz="4000" dirty="0">
                <a:latin typeface="Arial" panose="020B0604020202020204" pitchFamily="34" charset="0"/>
                <a:cs typeface="Arial" panose="020B0604020202020204" pitchFamily="34" charset="0"/>
              </a:rPr>
              <a:t>Valor generado</a:t>
            </a:r>
          </a:p>
          <a:p>
            <a:r>
              <a:rPr lang="es-MX" sz="4000" b="1" dirty="0">
                <a:latin typeface="Arial" panose="020B0604020202020204" pitchFamily="34" charset="0"/>
                <a:cs typeface="Arial" panose="020B0604020202020204" pitchFamily="34" charset="0"/>
              </a:rPr>
              <a:t>Claridad estratégica</a:t>
            </a:r>
            <a:r>
              <a:rPr lang="es-MX" sz="4000" dirty="0">
                <a:latin typeface="Arial" panose="020B0604020202020204" pitchFamily="34" charset="0"/>
                <a:cs typeface="Arial" panose="020B0604020202020204" pitchFamily="34" charset="0"/>
              </a:rPr>
              <a:t> sobre la evolución del negocio.</a:t>
            </a:r>
          </a:p>
          <a:p>
            <a:r>
              <a:rPr lang="es-MX" sz="4000" b="1" dirty="0">
                <a:latin typeface="Arial" panose="020B0604020202020204" pitchFamily="34" charset="0"/>
                <a:cs typeface="Arial" panose="020B0604020202020204" pitchFamily="34" charset="0"/>
              </a:rPr>
              <a:t>Predicciones con sustento estadístico.</a:t>
            </a:r>
            <a:endParaRPr lang="es-MX" sz="4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MX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Dashboard</a:t>
            </a:r>
            <a:r>
              <a:rPr lang="es-MX" sz="4000" dirty="0">
                <a:latin typeface="Arial" panose="020B0604020202020204" pitchFamily="34" charset="0"/>
                <a:cs typeface="Arial" panose="020B0604020202020204" pitchFamily="34" charset="0"/>
              </a:rPr>
              <a:t> para monitoreo continuo.</a:t>
            </a:r>
          </a:p>
          <a:p>
            <a:r>
              <a:rPr lang="es-MX" sz="4000" b="1" dirty="0">
                <a:latin typeface="Arial" panose="020B0604020202020204" pitchFamily="34" charset="0"/>
                <a:cs typeface="Arial" panose="020B0604020202020204" pitchFamily="34" charset="0"/>
              </a:rPr>
              <a:t>Base analítica escalable</a:t>
            </a:r>
            <a:r>
              <a:rPr lang="es-MX" sz="4000" dirty="0">
                <a:latin typeface="Arial" panose="020B0604020202020204" pitchFamily="34" charset="0"/>
                <a:cs typeface="Arial" panose="020B0604020202020204" pitchFamily="34" charset="0"/>
              </a:rPr>
              <a:t> para futuros proyectos.</a:t>
            </a:r>
          </a:p>
          <a:p>
            <a:endParaRPr lang="es-MX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BD76FD5-57CF-54CD-E69E-0E96C6F4F1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4730" y="4406901"/>
            <a:ext cx="4880270" cy="2031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4143543"/>
      </p:ext>
    </p:extLst>
  </p:cSld>
  <p:clrMapOvr>
    <a:masterClrMapping/>
  </p:clrMapOvr>
</p:sld>
</file>

<file path=ppt/theme/theme1.xml><?xml version="1.0" encoding="utf-8"?>
<a:theme xmlns:a="http://schemas.openxmlformats.org/drawingml/2006/main" name="Recorte">
  <a:themeElements>
    <a:clrScheme name="Recorte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Recorte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Recort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TM10001105[[fn=Recorte]]</Template>
  <TotalTime>13</TotalTime>
  <Words>1062</Words>
  <Application>Microsoft Office PowerPoint</Application>
  <PresentationFormat>Panorámica</PresentationFormat>
  <Paragraphs>199</Paragraphs>
  <Slides>17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1" baseType="lpstr">
      <vt:lpstr>Arial</vt:lpstr>
      <vt:lpstr>Calibri</vt:lpstr>
      <vt:lpstr>Franklin Gothic Book</vt:lpstr>
      <vt:lpstr>Recorte</vt:lpstr>
      <vt:lpstr>Análisis de ventas y pronóstico 2025 – Cadena de ópticas</vt:lpstr>
      <vt:lpstr>Presentación de PowerPoint</vt:lpstr>
      <vt:lpstr>Introducción y contexto</vt:lpstr>
      <vt:lpstr>Negocio y reto analítico </vt:lpstr>
      <vt:lpstr>Objetivo del proyecto</vt:lpstr>
      <vt:lpstr>Alcance y fuentes de datos</vt:lpstr>
      <vt:lpstr>Alcance del proyecto</vt:lpstr>
      <vt:lpstr>Análisis exploratorio – Patrones mensuales</vt:lpstr>
      <vt:lpstr>Análisis exploratorio – Por categoría</vt:lpstr>
      <vt:lpstr>Análisis exploratorio – Formato y sucursales</vt:lpstr>
      <vt:lpstr>Análisis exploratorio – Impacto de los descuentos</vt:lpstr>
      <vt:lpstr>. Dashboard interactivo (Power BI)</vt:lpstr>
      <vt:lpstr>Modelado predictivo</vt:lpstr>
      <vt:lpstr>Predicción de ventas 2025 – Resultados globales</vt:lpstr>
      <vt:lpstr>Comportamientos previstos y riesgos</vt:lpstr>
      <vt:lpstr>Recomendaciones estratégicas</vt:lpstr>
      <vt:lpstr>Conclusiones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Eduardo De la Torre Gonzalez</dc:creator>
  <cp:lastModifiedBy>Eduardo De la Torre Gonzalez</cp:lastModifiedBy>
  <cp:revision>2</cp:revision>
  <dcterms:created xsi:type="dcterms:W3CDTF">2025-12-09T04:28:07Z</dcterms:created>
  <dcterms:modified xsi:type="dcterms:W3CDTF">2025-12-09T04:41:35Z</dcterms:modified>
</cp:coreProperties>
</file>